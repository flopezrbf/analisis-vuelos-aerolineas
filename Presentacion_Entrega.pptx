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0275"/>
            <a:ext cx="7772400" cy="1470025"/>
          </a:xfrm>
        </p:spPr>
        <p:txBody>
          <a:bodyPr/>
          <a:lstStyle/>
          <a:p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Vuelos</a:t>
            </a:r>
            <a:r>
              <a:rPr dirty="0"/>
              <a:t> de </a:t>
            </a:r>
            <a:r>
              <a:rPr dirty="0" err="1"/>
              <a:t>Aerolíneas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81401"/>
            <a:ext cx="6400800" cy="1752600"/>
          </a:xfrm>
        </p:spPr>
        <p:txBody>
          <a:bodyPr/>
          <a:lstStyle/>
          <a:p>
            <a:r>
              <a:rPr dirty="0" err="1"/>
              <a:t>Optimización</a:t>
            </a:r>
            <a:r>
              <a:rPr dirty="0"/>
              <a:t> de </a:t>
            </a:r>
            <a:r>
              <a:rPr dirty="0" err="1"/>
              <a:t>Precios</a:t>
            </a:r>
            <a:r>
              <a:rPr dirty="0"/>
              <a:t> y </a:t>
            </a:r>
            <a:r>
              <a:rPr dirty="0" err="1"/>
              <a:t>Patrones</a:t>
            </a:r>
            <a:r>
              <a:rPr dirty="0"/>
              <a:t> de </a:t>
            </a:r>
            <a:r>
              <a:rPr dirty="0" err="1"/>
              <a:t>Compra</a:t>
            </a:r>
            <a:endParaRPr dirty="0"/>
          </a:p>
          <a:p>
            <a:r>
              <a:rPr dirty="0"/>
              <a:t>Primera </a:t>
            </a:r>
            <a:r>
              <a:rPr dirty="0" err="1"/>
              <a:t>Entrega</a:t>
            </a:r>
            <a:r>
              <a:rPr dirty="0"/>
              <a:t> -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Abstracto: Motivación y Audiencia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pPr>
              <a:defRPr sz="2400" b="1"/>
            </a:pPr>
            <a:r>
              <a:t>Motivación:</a:t>
            </a:r>
          </a:p>
          <a:p>
            <a:r>
              <a:t>La industria aérea utiliza precios dinámicos complejos. Analizar estos patrones permite identificar oportunidades de ahorro significativas (hasta 60-70%) para los consumidores.</a:t>
            </a:r>
          </a:p>
          <a:p>
            <a:br/>
            <a:r>
              <a:t>Audiencia:</a:t>
            </a:r>
          </a:p>
          <a:p>
            <a:r>
              <a:t>• Viajeros Frecuentes: Para optimizar gastos personales.</a:t>
            </a:r>
          </a:p>
          <a:p>
            <a:r>
              <a:t>• Agencias de Viaje: Para ofrecer mejores tarifas a clientes.</a:t>
            </a:r>
          </a:p>
          <a:p>
            <a:r>
              <a:t>• Empresas: Para gestión eficiente de presupuestos de viaje.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de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400" dirty="0" err="1"/>
              <a:t>Resumen</a:t>
            </a:r>
            <a:r>
              <a:rPr sz="2400" dirty="0"/>
              <a:t> del Dataset </a:t>
            </a:r>
            <a:r>
              <a:rPr sz="2400" dirty="0" err="1"/>
              <a:t>Analizado</a:t>
            </a:r>
            <a:r>
              <a:rPr sz="2400" dirty="0"/>
              <a:t>:</a:t>
            </a:r>
          </a:p>
          <a:p>
            <a:r>
              <a:rPr sz="2400" dirty="0"/>
              <a:t>• Total de </a:t>
            </a:r>
            <a:r>
              <a:rPr sz="2400" dirty="0" err="1"/>
              <a:t>Registros</a:t>
            </a:r>
            <a:r>
              <a:rPr sz="2400" dirty="0"/>
              <a:t>: 300,153 </a:t>
            </a:r>
            <a:r>
              <a:rPr sz="2400" dirty="0" err="1"/>
              <a:t>vuelos</a:t>
            </a:r>
            <a:endParaRPr sz="2400" dirty="0"/>
          </a:p>
          <a:p>
            <a:r>
              <a:rPr sz="2400" dirty="0"/>
              <a:t>• Fuente: Dataset </a:t>
            </a:r>
            <a:r>
              <a:rPr sz="2400" dirty="0" err="1"/>
              <a:t>público</a:t>
            </a:r>
            <a:r>
              <a:rPr sz="2400" dirty="0"/>
              <a:t> de </a:t>
            </a:r>
            <a:r>
              <a:rPr sz="2400" dirty="0" err="1"/>
              <a:t>aerolíneas</a:t>
            </a:r>
            <a:r>
              <a:rPr sz="2400" dirty="0"/>
              <a:t> </a:t>
            </a:r>
            <a:r>
              <a:rPr sz="2400" dirty="0" err="1"/>
              <a:t>indias</a:t>
            </a:r>
            <a:endParaRPr sz="2400" dirty="0"/>
          </a:p>
          <a:p>
            <a:r>
              <a:rPr sz="2400" dirty="0"/>
              <a:t>• Variables Clave (12 </a:t>
            </a:r>
            <a:r>
              <a:rPr sz="2400" dirty="0" err="1"/>
              <a:t>columnas</a:t>
            </a:r>
            <a:r>
              <a:rPr sz="2400" dirty="0"/>
              <a:t>):</a:t>
            </a:r>
          </a:p>
          <a:p>
            <a:r>
              <a:rPr sz="2400" dirty="0"/>
              <a:t>    - </a:t>
            </a:r>
            <a:r>
              <a:rPr sz="2400" dirty="0" err="1"/>
              <a:t>Aerolínea</a:t>
            </a:r>
            <a:r>
              <a:rPr sz="2400" dirty="0"/>
              <a:t> (6 </a:t>
            </a:r>
            <a:r>
              <a:rPr sz="2400" dirty="0" err="1"/>
              <a:t>compañías</a:t>
            </a:r>
            <a:r>
              <a:rPr sz="2400" dirty="0"/>
              <a:t>)</a:t>
            </a:r>
          </a:p>
          <a:p>
            <a:r>
              <a:rPr sz="2400" dirty="0"/>
              <a:t>    - Origen y </a:t>
            </a:r>
            <a:r>
              <a:rPr sz="2400" dirty="0" err="1"/>
              <a:t>Destino</a:t>
            </a:r>
            <a:r>
              <a:rPr sz="2400" dirty="0"/>
              <a:t> (30 </a:t>
            </a:r>
            <a:r>
              <a:rPr sz="2400" dirty="0" err="1"/>
              <a:t>rutas</a:t>
            </a:r>
            <a:r>
              <a:rPr sz="2400" dirty="0"/>
              <a:t>)</a:t>
            </a:r>
          </a:p>
          <a:p>
            <a:r>
              <a:rPr sz="2400" dirty="0"/>
              <a:t>    - </a:t>
            </a:r>
            <a:r>
              <a:rPr sz="2400" dirty="0" err="1"/>
              <a:t>Precio</a:t>
            </a:r>
            <a:r>
              <a:rPr sz="2400" dirty="0"/>
              <a:t> (Variable </a:t>
            </a:r>
            <a:r>
              <a:rPr sz="2400" dirty="0" err="1"/>
              <a:t>objetivo</a:t>
            </a:r>
            <a:r>
              <a:rPr sz="2400" dirty="0"/>
              <a:t>)</a:t>
            </a:r>
          </a:p>
          <a:p>
            <a:r>
              <a:rPr sz="2400" dirty="0"/>
              <a:t>    - Días de </a:t>
            </a:r>
            <a:r>
              <a:rPr sz="2400" dirty="0" err="1"/>
              <a:t>anticipación</a:t>
            </a:r>
            <a:endParaRPr sz="2400" dirty="0"/>
          </a:p>
          <a:p>
            <a:r>
              <a:rPr sz="2400" dirty="0"/>
              <a:t>    - </a:t>
            </a:r>
            <a:r>
              <a:rPr sz="2400" dirty="0" err="1"/>
              <a:t>Duración</a:t>
            </a:r>
            <a:r>
              <a:rPr sz="2400" dirty="0"/>
              <a:t> y </a:t>
            </a:r>
            <a:r>
              <a:rPr sz="2400" dirty="0" err="1"/>
              <a:t>Escalas</a:t>
            </a:r>
            <a:endParaRPr sz="2400" dirty="0"/>
          </a:p>
          <a:p>
            <a:r>
              <a:rPr sz="2400" dirty="0"/>
              <a:t>    - </a:t>
            </a:r>
            <a:r>
              <a:rPr sz="2400" dirty="0" err="1"/>
              <a:t>Horario</a:t>
            </a:r>
            <a:r>
              <a:rPr sz="2400" dirty="0"/>
              <a:t> de </a:t>
            </a:r>
            <a:r>
              <a:rPr sz="2400" dirty="0" err="1"/>
              <a:t>salida</a:t>
            </a:r>
            <a:r>
              <a:rPr sz="2400" dirty="0"/>
              <a:t>/</a:t>
            </a:r>
            <a:r>
              <a:rPr sz="2400" dirty="0" err="1"/>
              <a:t>llegada</a:t>
            </a:r>
            <a:endParaRPr sz="2400" dirty="0"/>
          </a:p>
          <a:p>
            <a:r>
              <a:rPr sz="2400" dirty="0"/>
              <a:t>    - </a:t>
            </a:r>
            <a:r>
              <a:rPr sz="2400" dirty="0" err="1"/>
              <a:t>Clase</a:t>
            </a:r>
            <a:r>
              <a:rPr sz="2400" dirty="0"/>
              <a:t> (Economy/Business)</a:t>
            </a:r>
          </a:p>
          <a:p>
            <a:r>
              <a:rPr sz="2400" dirty="0"/>
              <a:t>• Calidad de </a:t>
            </a:r>
            <a:r>
              <a:rPr sz="2400" dirty="0" err="1"/>
              <a:t>Datos</a:t>
            </a:r>
            <a:r>
              <a:rPr sz="2400" dirty="0"/>
              <a:t>: Dataset </a:t>
            </a:r>
            <a:r>
              <a:rPr sz="2400" dirty="0" err="1"/>
              <a:t>limpio</a:t>
            </a:r>
            <a:r>
              <a:rPr sz="2400" dirty="0"/>
              <a:t>, sin </a:t>
            </a:r>
            <a:r>
              <a:rPr sz="2400" dirty="0" err="1"/>
              <a:t>valores</a:t>
            </a:r>
            <a:r>
              <a:rPr sz="2400" dirty="0"/>
              <a:t> </a:t>
            </a:r>
            <a:r>
              <a:rPr sz="2400" dirty="0" err="1"/>
              <a:t>nulos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e Hipótesis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¿</a:t>
            </a:r>
            <a:r>
              <a:rPr dirty="0" err="1"/>
              <a:t>Cuándo</a:t>
            </a:r>
            <a:r>
              <a:rPr dirty="0"/>
              <a:t> es el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 para </a:t>
            </a:r>
            <a:r>
              <a:rPr dirty="0" err="1"/>
              <a:t>comprar</a:t>
            </a:r>
            <a:r>
              <a:rPr dirty="0"/>
              <a:t>?</a:t>
            </a:r>
          </a:p>
          <a:p>
            <a:pPr>
              <a:defRPr sz="1800"/>
            </a:pPr>
            <a:r>
              <a:rPr dirty="0"/>
              <a:t>   </a:t>
            </a:r>
            <a:r>
              <a:rPr dirty="0" err="1"/>
              <a:t>Hipótesis</a:t>
            </a:r>
            <a:r>
              <a:rPr dirty="0"/>
              <a:t>: </a:t>
            </a:r>
            <a:r>
              <a:rPr dirty="0" err="1"/>
              <a:t>Comprar</a:t>
            </a:r>
            <a:r>
              <a:rPr dirty="0"/>
              <a:t> con 20-30 días de </a:t>
            </a:r>
            <a:r>
              <a:rPr dirty="0" err="1"/>
              <a:t>anticipación</a:t>
            </a:r>
            <a:r>
              <a:rPr dirty="0"/>
              <a:t> es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barato</a:t>
            </a:r>
            <a:r>
              <a:rPr dirty="0"/>
              <a:t>.</a:t>
            </a:r>
          </a:p>
          <a:p>
            <a:r>
              <a:rPr dirty="0"/>
              <a:t>2. ¿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afectan</a:t>
            </a:r>
            <a:r>
              <a:rPr dirty="0"/>
              <a:t> las </a:t>
            </a:r>
            <a:r>
              <a:rPr dirty="0" err="1"/>
              <a:t>escalas</a:t>
            </a:r>
            <a:r>
              <a:rPr dirty="0"/>
              <a:t> al </a:t>
            </a:r>
            <a:r>
              <a:rPr dirty="0" err="1"/>
              <a:t>precio</a:t>
            </a:r>
            <a:r>
              <a:rPr dirty="0"/>
              <a:t>?</a:t>
            </a:r>
          </a:p>
          <a:p>
            <a:pPr>
              <a:defRPr sz="1800"/>
            </a:pPr>
            <a:r>
              <a:rPr dirty="0"/>
              <a:t>   </a:t>
            </a:r>
            <a:r>
              <a:rPr dirty="0" err="1"/>
              <a:t>Hipótesis</a:t>
            </a:r>
            <a:r>
              <a:rPr dirty="0"/>
              <a:t>: </a:t>
            </a:r>
            <a:r>
              <a:rPr dirty="0" err="1"/>
              <a:t>Vuelos</a:t>
            </a:r>
            <a:r>
              <a:rPr dirty="0"/>
              <a:t> con </a:t>
            </a:r>
            <a:r>
              <a:rPr dirty="0" err="1"/>
              <a:t>escalas</a:t>
            </a:r>
            <a:r>
              <a:rPr dirty="0"/>
              <a:t> son </a:t>
            </a:r>
            <a:r>
              <a:rPr dirty="0" err="1"/>
              <a:t>significativamente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económicos</a:t>
            </a:r>
            <a:r>
              <a:rPr dirty="0"/>
              <a:t>.</a:t>
            </a:r>
          </a:p>
          <a:p>
            <a:r>
              <a:rPr dirty="0"/>
              <a:t>3.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aerolíneas</a:t>
            </a:r>
            <a:r>
              <a:rPr dirty="0"/>
              <a:t> son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baratas</a:t>
            </a:r>
            <a:r>
              <a:rPr dirty="0"/>
              <a:t>?</a:t>
            </a:r>
          </a:p>
          <a:p>
            <a:pPr>
              <a:defRPr sz="1800"/>
            </a:pPr>
            <a:r>
              <a:rPr dirty="0"/>
              <a:t>   </a:t>
            </a:r>
            <a:r>
              <a:rPr dirty="0" err="1"/>
              <a:t>Hipótesis</a:t>
            </a:r>
            <a:r>
              <a:rPr dirty="0"/>
              <a:t>: Low-cost (SpiceJet, AirAsia) vs Premium (Vistara).</a:t>
            </a:r>
          </a:p>
          <a:p>
            <a:r>
              <a:rPr dirty="0"/>
              <a:t>4. ¿Los </a:t>
            </a:r>
            <a:r>
              <a:rPr dirty="0" err="1"/>
              <a:t>horarios</a:t>
            </a:r>
            <a:r>
              <a:rPr dirty="0"/>
              <a:t> </a:t>
            </a:r>
            <a:r>
              <a:rPr dirty="0" err="1"/>
              <a:t>influyen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precio</a:t>
            </a:r>
            <a:r>
              <a:rPr dirty="0"/>
              <a:t>?</a:t>
            </a:r>
          </a:p>
          <a:p>
            <a:pPr>
              <a:defRPr sz="1800"/>
            </a:pPr>
            <a:r>
              <a:rPr dirty="0"/>
              <a:t>   </a:t>
            </a:r>
            <a:r>
              <a:rPr dirty="0" err="1"/>
              <a:t>Hipótesis</a:t>
            </a:r>
            <a:r>
              <a:rPr dirty="0"/>
              <a:t>: </a:t>
            </a:r>
            <a:r>
              <a:rPr dirty="0" err="1"/>
              <a:t>Horarios</a:t>
            </a:r>
            <a:r>
              <a:rPr dirty="0"/>
              <a:t> 'prime' (</a:t>
            </a:r>
            <a:r>
              <a:rPr dirty="0" err="1"/>
              <a:t>mañana</a:t>
            </a:r>
            <a:r>
              <a:rPr dirty="0"/>
              <a:t>/</a:t>
            </a:r>
            <a:r>
              <a:rPr dirty="0" err="1"/>
              <a:t>tarde</a:t>
            </a:r>
            <a:r>
              <a:rPr dirty="0"/>
              <a:t>) son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caros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El Momento Perfecto para Comprar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precio_vs_d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227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Comparación de Aerolíneas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comparacion_aerolin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2485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de las Escalas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pacto_esca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36442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Horarios que Cuestan Más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horarios_pre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217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Rutas Más y Menos Costosas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rutas_pre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35790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y Hallazgos Finales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• Timing </a:t>
            </a:r>
            <a:r>
              <a:rPr sz="2400" dirty="0" err="1"/>
              <a:t>Óptimo</a:t>
            </a:r>
            <a:r>
              <a:rPr sz="2400" dirty="0"/>
              <a:t>: </a:t>
            </a:r>
            <a:r>
              <a:rPr sz="2400" dirty="0" err="1"/>
              <a:t>Comprar</a:t>
            </a:r>
            <a:r>
              <a:rPr sz="2400" dirty="0"/>
              <a:t> entre 20-35 días antes </a:t>
            </a:r>
            <a:r>
              <a:rPr sz="2400" dirty="0" err="1"/>
              <a:t>ahorra</a:t>
            </a:r>
            <a:r>
              <a:rPr sz="2400" dirty="0"/>
              <a:t> hasta un 60%.</a:t>
            </a:r>
          </a:p>
          <a:p>
            <a:r>
              <a:rPr sz="2400" dirty="0"/>
              <a:t>• </a:t>
            </a:r>
            <a:r>
              <a:rPr sz="2400" dirty="0" err="1"/>
              <a:t>Aerolíneas</a:t>
            </a:r>
            <a:r>
              <a:rPr sz="2400" dirty="0"/>
              <a:t>: SpiceJet y AirAsia son las </a:t>
            </a:r>
            <a:r>
              <a:rPr sz="2400" dirty="0" err="1"/>
              <a:t>opciones</a:t>
            </a:r>
            <a:r>
              <a:rPr sz="2400" dirty="0"/>
              <a:t> </a:t>
            </a:r>
            <a:r>
              <a:rPr sz="2400" dirty="0" err="1"/>
              <a:t>más</a:t>
            </a:r>
            <a:r>
              <a:rPr sz="2400" dirty="0"/>
              <a:t> </a:t>
            </a:r>
            <a:r>
              <a:rPr sz="2400" dirty="0" err="1"/>
              <a:t>económicas</a:t>
            </a:r>
            <a:r>
              <a:rPr sz="2400" dirty="0"/>
              <a:t> (30-50% </a:t>
            </a:r>
            <a:r>
              <a:rPr sz="2400" dirty="0" err="1"/>
              <a:t>menos</a:t>
            </a:r>
            <a:r>
              <a:rPr sz="2400" dirty="0"/>
              <a:t>).</a:t>
            </a:r>
          </a:p>
          <a:p>
            <a:r>
              <a:rPr sz="2400" dirty="0"/>
              <a:t>• </a:t>
            </a:r>
            <a:r>
              <a:rPr sz="2400" dirty="0" err="1"/>
              <a:t>Escalas</a:t>
            </a:r>
            <a:r>
              <a:rPr sz="2400" dirty="0"/>
              <a:t>: </a:t>
            </a:r>
            <a:r>
              <a:rPr sz="2400" dirty="0" err="1"/>
              <a:t>Aceptar</a:t>
            </a:r>
            <a:r>
              <a:rPr sz="2400" dirty="0"/>
              <a:t> una </a:t>
            </a:r>
            <a:r>
              <a:rPr sz="2400" dirty="0" err="1"/>
              <a:t>escala</a:t>
            </a:r>
            <a:r>
              <a:rPr sz="2400" dirty="0"/>
              <a:t> reduce el </a:t>
            </a:r>
            <a:r>
              <a:rPr sz="2400" dirty="0" err="1"/>
              <a:t>precio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un 40-60% vs </a:t>
            </a:r>
            <a:r>
              <a:rPr sz="2400" dirty="0" err="1"/>
              <a:t>vuelo</a:t>
            </a:r>
            <a:r>
              <a:rPr sz="2400" dirty="0"/>
              <a:t> </a:t>
            </a:r>
            <a:r>
              <a:rPr sz="2400" dirty="0" err="1"/>
              <a:t>directo</a:t>
            </a:r>
            <a:r>
              <a:rPr sz="2400" dirty="0"/>
              <a:t>.</a:t>
            </a:r>
          </a:p>
          <a:p>
            <a:r>
              <a:rPr sz="2400" dirty="0"/>
              <a:t>• </a:t>
            </a:r>
            <a:r>
              <a:rPr sz="2400" dirty="0" err="1"/>
              <a:t>Horarios</a:t>
            </a:r>
            <a:r>
              <a:rPr sz="2400" dirty="0"/>
              <a:t>: Volar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horarios</a:t>
            </a:r>
            <a:r>
              <a:rPr sz="2400" dirty="0"/>
              <a:t> no </a:t>
            </a:r>
            <a:r>
              <a:rPr sz="2400" dirty="0" err="1"/>
              <a:t>pico</a:t>
            </a:r>
            <a:r>
              <a:rPr sz="2400" dirty="0"/>
              <a:t> (</a:t>
            </a:r>
            <a:r>
              <a:rPr sz="2400" dirty="0" err="1"/>
              <a:t>madrugada</a:t>
            </a:r>
            <a:r>
              <a:rPr sz="2400" dirty="0"/>
              <a:t>/</a:t>
            </a:r>
            <a:r>
              <a:rPr sz="2400" dirty="0" err="1"/>
              <a:t>mediodía</a:t>
            </a:r>
            <a:r>
              <a:rPr sz="2400" dirty="0"/>
              <a:t>) </a:t>
            </a:r>
            <a:r>
              <a:rPr sz="2400" dirty="0" err="1"/>
              <a:t>ahorra</a:t>
            </a:r>
            <a:r>
              <a:rPr sz="2400" dirty="0"/>
              <a:t> 15-25%.</a:t>
            </a:r>
          </a:p>
          <a:p>
            <a:r>
              <a:rPr sz="2400" dirty="0"/>
              <a:t>• </a:t>
            </a:r>
            <a:r>
              <a:rPr sz="2400" dirty="0" err="1"/>
              <a:t>Rutas</a:t>
            </a:r>
            <a:r>
              <a:rPr sz="2400" dirty="0"/>
              <a:t>: Las </a:t>
            </a:r>
            <a:r>
              <a:rPr sz="2400" dirty="0" err="1"/>
              <a:t>rutas</a:t>
            </a:r>
            <a:r>
              <a:rPr sz="2400" dirty="0"/>
              <a:t> </a:t>
            </a:r>
            <a:r>
              <a:rPr sz="2400" dirty="0" err="1"/>
              <a:t>más</a:t>
            </a:r>
            <a:r>
              <a:rPr sz="2400" dirty="0"/>
              <a:t> </a:t>
            </a:r>
            <a:r>
              <a:rPr sz="2400" dirty="0" err="1"/>
              <a:t>populares</a:t>
            </a:r>
            <a:r>
              <a:rPr sz="2400" dirty="0"/>
              <a:t> y </a:t>
            </a:r>
            <a:r>
              <a:rPr sz="2400" dirty="0" err="1"/>
              <a:t>competitivas</a:t>
            </a:r>
            <a:r>
              <a:rPr sz="2400" dirty="0"/>
              <a:t> </a:t>
            </a:r>
            <a:r>
              <a:rPr sz="2400" dirty="0" err="1"/>
              <a:t>tienden</a:t>
            </a:r>
            <a:r>
              <a:rPr sz="2400" dirty="0"/>
              <a:t> a </a:t>
            </a:r>
            <a:r>
              <a:rPr sz="2400" dirty="0" err="1"/>
              <a:t>tener</a:t>
            </a:r>
            <a:r>
              <a:rPr sz="2400" dirty="0"/>
              <a:t> </a:t>
            </a:r>
            <a:r>
              <a:rPr sz="2400" dirty="0" err="1"/>
              <a:t>mejores</a:t>
            </a:r>
            <a:r>
              <a:rPr sz="2400" dirty="0"/>
              <a:t> </a:t>
            </a:r>
            <a:r>
              <a:rPr sz="2400" dirty="0" err="1"/>
              <a:t>precios</a:t>
            </a:r>
            <a:r>
              <a:rPr sz="2400" dirty="0"/>
              <a:t> </a:t>
            </a:r>
            <a:r>
              <a:rPr sz="2400" dirty="0" err="1"/>
              <a:t>promedio</a:t>
            </a:r>
            <a:r>
              <a:rPr sz="2400" dirty="0"/>
              <a:t>.</a:t>
            </a:r>
          </a:p>
          <a:p>
            <a:r>
              <a:rPr sz="2400" dirty="0"/>
              <a:t>• </a:t>
            </a:r>
            <a:r>
              <a:rPr sz="2400" dirty="0" err="1"/>
              <a:t>Clase</a:t>
            </a:r>
            <a:r>
              <a:rPr sz="2400" dirty="0"/>
              <a:t>: Business cuesta 3-4 </a:t>
            </a:r>
            <a:r>
              <a:rPr sz="2400" dirty="0" err="1"/>
              <a:t>veces</a:t>
            </a:r>
            <a:r>
              <a:rPr sz="2400" dirty="0"/>
              <a:t> </a:t>
            </a:r>
            <a:r>
              <a:rPr sz="2400" dirty="0" err="1"/>
              <a:t>más</a:t>
            </a:r>
            <a:r>
              <a:rPr sz="2400" dirty="0"/>
              <a:t> que Economy </a:t>
            </a:r>
            <a:r>
              <a:rPr sz="2400" dirty="0" err="1"/>
              <a:t>constantemente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386</Words>
  <Application>Microsoft Office PowerPoint</Application>
  <PresentationFormat>Presentación en pantalla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Análisis de Vuelos de Aerolíneas</vt:lpstr>
      <vt:lpstr>Abstracto: Motivación y Audiencia</vt:lpstr>
      <vt:lpstr>Resumen de Metadata</vt:lpstr>
      <vt:lpstr>Preguntas e Hipótesis</vt:lpstr>
      <vt:lpstr>El Momento Perfecto para Comprar</vt:lpstr>
      <vt:lpstr>Comparación de Aerolíneas</vt:lpstr>
      <vt:lpstr>Impacto de las Escalas</vt:lpstr>
      <vt:lpstr>Horarios que Cuestan Más</vt:lpstr>
      <vt:lpstr>Rutas Más y Menos Costosas</vt:lpstr>
      <vt:lpstr>Insights y Hallazgos Finales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Vuelos de Aerolíneas</dc:title>
  <dc:subject/>
  <dc:creator/>
  <cp:keywords/>
  <dc:description>generated using python-pptx</dc:description>
  <cp:lastModifiedBy>Franco Lopez</cp:lastModifiedBy>
  <cp:revision>2</cp:revision>
  <dcterms:created xsi:type="dcterms:W3CDTF">2013-01-27T09:14:16Z</dcterms:created>
  <dcterms:modified xsi:type="dcterms:W3CDTF">2025-11-24T23:58:58Z</dcterms:modified>
  <cp:category/>
</cp:coreProperties>
</file>